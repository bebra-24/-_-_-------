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89" r:id="rId5"/>
    <p:sldId id="290" r:id="rId6"/>
    <p:sldId id="286" r:id="rId7"/>
    <p:sldId id="260" r:id="rId8"/>
    <p:sldId id="271" r:id="rId9"/>
    <p:sldId id="287" r:id="rId10"/>
    <p:sldId id="288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F8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Светлый стиль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428" autoAdjust="0"/>
    <p:restoredTop sz="94660"/>
  </p:normalViewPr>
  <p:slideViewPr>
    <p:cSldViewPr snapToGrid="0">
      <p:cViewPr varScale="1">
        <p:scale>
          <a:sx n="79" d="100"/>
          <a:sy n="79" d="100"/>
        </p:scale>
        <p:origin x="60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DE70D8-E793-4006-AAE2-0004D23BCA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B745E11-33A9-4C5C-85F2-791E09641D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5443669-2295-44DF-B66D-BDED5AE7E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4A9F-7A08-4A25-9828-1439FBCA1B7A}" type="datetimeFigureOut">
              <a:rPr lang="ru-RU" smtClean="0"/>
              <a:pPr/>
              <a:t>20.04.2026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8422BEA-8B7C-47AF-A70F-0A2E60584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CBC030B-A078-4703-B26E-EAD0178CA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94EBC-3ACE-4F74-A9C3-4A5FBECB6AA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61194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23EA53-AFAE-4DFB-9059-073BD93DD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DE583F7-EB2B-4CB8-94BF-A5E8F68B07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9C3D930-A758-40F4-B8FD-0C44B6388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4A9F-7A08-4A25-9828-1439FBCA1B7A}" type="datetimeFigureOut">
              <a:rPr lang="ru-RU" smtClean="0"/>
              <a:pPr/>
              <a:t>20.04.2026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6E2CAC8-EF0F-4E23-8966-DD548AAB0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5372FC6-457D-4813-93B4-C7D6DEBAC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94EBC-3ACE-4F74-A9C3-4A5FBECB6AA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6234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008432-FF37-4FDB-B4A3-AA53559E4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40D4CC6-C2BF-450E-9B99-B3CC3AA98B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AFEBC61-A6D0-4EAE-9726-FB77226F4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4A9F-7A08-4A25-9828-1439FBCA1B7A}" type="datetimeFigureOut">
              <a:rPr lang="ru-RU" smtClean="0"/>
              <a:pPr/>
              <a:t>20.04.2026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E73B618-727E-4012-8EE9-3696F2DCA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AD6A5BF-AAB0-4924-9907-289D2E924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94EBC-3ACE-4F74-A9C3-4A5FBECB6AA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2886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81FC3B-4919-46FF-8E86-AB8ADACB7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D60EBB-E43B-4F41-8A59-0C2A26798A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7E4461A-4DA4-4D71-9555-69BE0C1A33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4A04D12-0628-4C65-919D-0AAA49A16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4A9F-7A08-4A25-9828-1439FBCA1B7A}" type="datetimeFigureOut">
              <a:rPr lang="ru-RU" smtClean="0"/>
              <a:pPr/>
              <a:t>20.04.2026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28347D3-9123-4D13-BC5D-61326C6F7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252EFC4-BDCF-4FA7-A445-330FC5982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94EBC-3ACE-4F74-A9C3-4A5FBECB6AA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7360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69C2D8-5BA8-4370-AF92-DB0003311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8313205-AABF-4A4E-9269-270481FD8C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C0BD633-5647-4422-BC91-13DC3A82E3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F67D231-A554-4A3E-84B9-B2FA329449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35B08D6-758D-44A8-8501-8BBE53A724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B88DF29-3ECA-4303-B883-20E8743F3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4A9F-7A08-4A25-9828-1439FBCA1B7A}" type="datetimeFigureOut">
              <a:rPr lang="ru-RU" smtClean="0"/>
              <a:pPr/>
              <a:t>20.04.2026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7C27582-9983-4961-82AC-739536828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3BEDF94-D718-4FE3-A724-5C9D67AC1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94EBC-3ACE-4F74-A9C3-4A5FBECB6AA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5690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1802F4-3591-448A-8FCD-1DF6F5171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A2273B7-85C2-4F2F-99E2-965B6DA00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4A9F-7A08-4A25-9828-1439FBCA1B7A}" type="datetimeFigureOut">
              <a:rPr lang="ru-RU" smtClean="0"/>
              <a:pPr/>
              <a:t>20.04.2026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F8B06E0-66B5-483C-B31E-4190E7E6B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72F37AF-589B-46A7-BC61-3D55E4ECE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94EBC-3ACE-4F74-A9C3-4A5FBECB6AA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8488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AF4AE84-AD96-4642-8C13-75CDC78C3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4A9F-7A08-4A25-9828-1439FBCA1B7A}" type="datetimeFigureOut">
              <a:rPr lang="ru-RU" smtClean="0"/>
              <a:pPr/>
              <a:t>20.04.2026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6A798DF-9DF8-4598-82C4-DBF18F388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A4D0E14-E2D7-4FC1-9080-41949B186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94EBC-3ACE-4F74-A9C3-4A5FBECB6AA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0679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B79049-C527-4D53-823A-324829622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96BA78-72C8-418F-B4FE-30AAAD005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09CFC97-B736-496F-B85E-7854A479D5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E57E5D5-0CCE-4D2A-BDE4-C50094203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4A9F-7A08-4A25-9828-1439FBCA1B7A}" type="datetimeFigureOut">
              <a:rPr lang="ru-RU" smtClean="0"/>
              <a:pPr/>
              <a:t>20.04.2026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05F690E-4BF0-401C-AB34-DD969CA2F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F662955-89F0-4BE6-B515-704D70E86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94EBC-3ACE-4F74-A9C3-4A5FBECB6AA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2903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CEE7E4-8466-4425-B878-78EC72640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B59C8AE-31FC-4E6A-B841-337ECEE594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37D19A4-63B2-47B0-8307-54327F4C21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246BB4F-DBA1-49FA-9919-8CE6E2415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4A9F-7A08-4A25-9828-1439FBCA1B7A}" type="datetimeFigureOut">
              <a:rPr lang="ru-RU" smtClean="0"/>
              <a:pPr/>
              <a:t>20.04.2026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AC8DE1F-A68C-480C-865D-83B1A6800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B02062B-30EC-4765-A0DA-5E966BBB6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94EBC-3ACE-4F74-A9C3-4A5FBECB6AA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8883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651E74-14A4-4ADA-BC97-274F87CA2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E16E766-A8B6-4437-8330-C5A8B2601A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19AA25A-0249-4EC5-A3A5-32C706B9A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4A9F-7A08-4A25-9828-1439FBCA1B7A}" type="datetimeFigureOut">
              <a:rPr lang="ru-RU" smtClean="0"/>
              <a:pPr/>
              <a:t>20.04.2026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3646D6D-B034-4049-9334-42CACEFAA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E45BB2C-1BFA-4297-AD85-231AFB701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94EBC-3ACE-4F74-A9C3-4A5FBECB6AA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3338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7542DA6-8265-4CDF-B7D5-DAFDF892E5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3A75D10-662D-4AA7-99DC-BC4B583CF6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876D70D-BDB5-4E62-B29E-38FC54C58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4A9F-7A08-4A25-9828-1439FBCA1B7A}" type="datetimeFigureOut">
              <a:rPr lang="ru-RU" smtClean="0"/>
              <a:pPr/>
              <a:t>20.04.2026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E375AE-7C58-477A-8876-E6FB67973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06D156E-0978-4B25-9CB0-EB145FD66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94EBC-3ACE-4F74-A9C3-4A5FBECB6AA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6191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97000">
              <a:schemeClr val="accent1">
                <a:lumMod val="5000"/>
                <a:lumOff val="95000"/>
              </a:schemeClr>
            </a:gs>
            <a:gs pos="100000">
              <a:srgbClr val="ABC0E4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825882-0C66-4C8E-80A6-433D0B427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ED196A6-8536-431D-BED2-E41CCCA1C1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2ED9945-C609-4A7D-87EB-07109189FA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8E4A9F-7A08-4A25-9828-1439FBCA1B7A}" type="datetimeFigureOut">
              <a:rPr lang="ru-RU" smtClean="0"/>
              <a:pPr/>
              <a:t>20.04.2026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6D60B45-D604-4EDD-9AB1-7D7B43BA5E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9B89648-992F-4F8B-A030-DF9D0D4EE8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694EBC-3ACE-4F74-A9C3-4A5FBECB6AA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5446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761F9E-0B07-4BB3-8CCA-A21E6F1706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8" y="1507188"/>
            <a:ext cx="9144000" cy="1901500"/>
          </a:xfrm>
        </p:spPr>
        <p:txBody>
          <a:bodyPr>
            <a:normAutofit/>
          </a:bodyPr>
          <a:lstStyle/>
          <a:p>
            <a:pPr algn="ctr"/>
            <a:b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b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ПМ11. Разработка, администрирование и защита баз данных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EE2556A-8C10-4DCD-8E29-4626101B9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21814" y="3547342"/>
            <a:ext cx="5087566" cy="2853458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ru-RU" dirty="0"/>
              <a:t>Выполнила: </a:t>
            </a:r>
          </a:p>
          <a:p>
            <a:pPr algn="l"/>
            <a:r>
              <a:rPr lang="ru-RU" dirty="0"/>
              <a:t>Боков Денис Андреевич</a:t>
            </a:r>
          </a:p>
          <a:p>
            <a:pPr algn="l"/>
            <a:r>
              <a:rPr lang="ru-RU" dirty="0"/>
              <a:t>Группа 23П-2</a:t>
            </a:r>
          </a:p>
          <a:p>
            <a:pPr algn="l"/>
            <a:r>
              <a:rPr lang="ru-RU" dirty="0"/>
              <a:t>Специальность: </a:t>
            </a:r>
          </a:p>
          <a:p>
            <a:pPr algn="l"/>
            <a:r>
              <a:rPr lang="ru-RU" dirty="0"/>
              <a:t>09.02.07 Информационные системы и программирование</a:t>
            </a:r>
          </a:p>
          <a:p>
            <a:pPr algn="l"/>
            <a:r>
              <a:rPr lang="ru-RU" dirty="0"/>
              <a:t>Форма обучения: очная</a:t>
            </a:r>
          </a:p>
          <a:p>
            <a:pPr algn="l"/>
            <a:r>
              <a:rPr lang="ru-RU" dirty="0"/>
              <a:t>Руководитель:: Калинин Арсений Олегович</a:t>
            </a:r>
          </a:p>
          <a:p>
            <a:pPr algn="l"/>
            <a:endParaRPr lang="ru-RU" dirty="0"/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4C5ED6EA-F80B-4D7B-9656-F382197090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3931" y="355817"/>
            <a:ext cx="7704137" cy="1006475"/>
          </a:xfrm>
          <a:prstGeom prst="rect">
            <a:avLst/>
          </a:prstGeom>
          <a:solidFill>
            <a:schemeClr val="bg1">
              <a:alpha val="45097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/>
            <a:r>
              <a:rPr lang="ru-RU" altLang="ru-RU" sz="2000" dirty="0"/>
              <a:t>Кировское областное государственное профессиональное образовательное бюджетное учреждение</a:t>
            </a:r>
          </a:p>
          <a:p>
            <a:pPr algn="ctr" eaLnBrk="1" hangingPunct="1"/>
            <a:r>
              <a:rPr lang="ru-RU" altLang="ru-RU" sz="2000" dirty="0"/>
              <a:t>«Слободской колледж педагогики и социальных отношений»</a:t>
            </a:r>
          </a:p>
        </p:txBody>
      </p:sp>
      <p:pic>
        <p:nvPicPr>
          <p:cNvPr id="5" name="Picture 14" descr="touch-icon-ipad-retina">
            <a:extLst>
              <a:ext uri="{FF2B5EF4-FFF2-40B4-BE49-F238E27FC236}">
                <a16:creationId xmlns:a16="http://schemas.microsoft.com/office/drawing/2014/main" id="{3F50CCB7-BCFB-4B90-80AF-73B2EABBCD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4522" y="109646"/>
            <a:ext cx="1258888" cy="1258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15">
            <a:extLst>
              <a:ext uri="{FF2B5EF4-FFF2-40B4-BE49-F238E27FC236}">
                <a16:creationId xmlns:a16="http://schemas.microsoft.com/office/drawing/2014/main" id="{A44A0B62-7BFA-4EE7-82BC-8DBA0521E4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7755" y="6198669"/>
            <a:ext cx="23764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ru-RU" altLang="ru-RU" dirty="0"/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2046991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5C43DF-BF4D-4974-B386-12CD50763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8522"/>
            <a:ext cx="10515600" cy="882166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/>
              <a:t>ЦЕЛЬ И ЗАДАЧИ ПРАКТИКИ</a:t>
            </a: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2EA7DD78-BAE0-4062-9389-1D3733B1BBA4}"/>
              </a:ext>
            </a:extLst>
          </p:cNvPr>
          <p:cNvSpPr txBox="1">
            <a:spLocks/>
          </p:cNvSpPr>
          <p:nvPr/>
        </p:nvSpPr>
        <p:spPr>
          <a:xfrm>
            <a:off x="1524000" y="155499"/>
            <a:ext cx="9144000" cy="5168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ru-RU" sz="120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186AF2B-7B69-9303-A357-3A9283BB77D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1445" y="1851944"/>
            <a:ext cx="7833798" cy="43519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ru-RU" dirty="0"/>
              <a:t>Цель: Разработка системы контроля пропускного режима для объекта КИИ.</a:t>
            </a:r>
          </a:p>
          <a:p>
            <a:pPr marL="0" indent="0">
              <a:buNone/>
            </a:pPr>
            <a:r>
              <a:rPr lang="ru-RU" dirty="0"/>
              <a:t>Задачи:</a:t>
            </a:r>
          </a:p>
          <a:p>
            <a:pPr marL="0" indent="0">
              <a:buNone/>
            </a:pPr>
            <a:r>
              <a:rPr lang="ru-RU" dirty="0"/>
              <a:t>Проектирование базы данных в 3 нормальной форме</a:t>
            </a:r>
          </a:p>
          <a:p>
            <a:pPr marL="0" indent="0">
              <a:buNone/>
            </a:pPr>
            <a:r>
              <a:rPr lang="ru-RU" dirty="0"/>
              <a:t>Разработка 4 клиентских терминалов</a:t>
            </a:r>
          </a:p>
          <a:p>
            <a:pPr marL="0" indent="0">
              <a:buNone/>
            </a:pPr>
            <a:r>
              <a:rPr lang="ru-RU" dirty="0"/>
              <a:t>Реализация многоуровневой системы доступа</a:t>
            </a:r>
          </a:p>
          <a:p>
            <a:pPr marL="0" indent="0">
              <a:buNone/>
            </a:pPr>
            <a:r>
              <a:rPr lang="ru-RU" dirty="0"/>
              <a:t>Автоматизация проверки чёрного списка</a:t>
            </a:r>
          </a:p>
          <a:p>
            <a:pPr marL="0" indent="0">
              <a:buNone/>
            </a:pPr>
            <a:r>
              <a:rPr lang="ru-RU" dirty="0"/>
              <a:t>Формирование отчётов и </a:t>
            </a:r>
            <a:r>
              <a:rPr lang="ru-RU" dirty="0" err="1"/>
              <a:t>уведомлени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6" name="AutoShape 4" descr="Мерседес на подъёмнике в ремонте">
            <a:extLst>
              <a:ext uri="{FF2B5EF4-FFF2-40B4-BE49-F238E27FC236}">
                <a16:creationId xmlns:a16="http://schemas.microsoft.com/office/drawing/2014/main" id="{E32FBD46-92CA-8970-5EB6-4C32326FD3E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6722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AD14948B-999B-4BA8-9D35-9F9344834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8522"/>
            <a:ext cx="10515600" cy="882166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/>
              <a:t>Анализ предметной области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55439C-AF4A-B337-6266-2EDA63C7FB78}"/>
              </a:ext>
            </a:extLst>
          </p:cNvPr>
          <p:cNvSpPr txBox="1"/>
          <p:nvPr/>
        </p:nvSpPr>
        <p:spPr>
          <a:xfrm>
            <a:off x="1178670" y="1826695"/>
            <a:ext cx="657371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b="1" dirty="0"/>
              <a:t>Выявленные бизнес-процессы: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2400" b="1" dirty="0"/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D9BC7258-D619-B402-D6CA-496B795EBBE9}"/>
              </a:ext>
            </a:extLst>
          </p:cNvPr>
          <p:cNvSpPr txBox="1">
            <a:spLocks/>
          </p:cNvSpPr>
          <p:nvPr/>
        </p:nvSpPr>
        <p:spPr>
          <a:xfrm>
            <a:off x="1524000" y="291686"/>
            <a:ext cx="9144000" cy="5168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ru-RU" sz="1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E1A996-7A6F-E179-2BF0-80AAECA87EFA}"/>
              </a:ext>
            </a:extLst>
          </p:cNvPr>
          <p:cNvSpPr txBox="1"/>
          <p:nvPr/>
        </p:nvSpPr>
        <p:spPr>
          <a:xfrm>
            <a:off x="1178670" y="2657692"/>
            <a:ext cx="609437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№	Процесс	Участники</a:t>
            </a:r>
          </a:p>
          <a:p>
            <a:r>
              <a:rPr lang="ru-RU" dirty="0"/>
              <a:t>1	Регистрация посетителя	Посетитель</a:t>
            </a:r>
          </a:p>
          <a:p>
            <a:r>
              <a:rPr lang="ru-RU" dirty="0"/>
              <a:t>2	Подача заявки	Посетитель</a:t>
            </a:r>
          </a:p>
          <a:p>
            <a:r>
              <a:rPr lang="ru-RU" dirty="0"/>
              <a:t>3	Проверка заявки	Общий отдел</a:t>
            </a:r>
          </a:p>
          <a:p>
            <a:r>
              <a:rPr lang="ru-RU" dirty="0"/>
              <a:t>4	Одобрение/отклонение	Общий отдел</a:t>
            </a:r>
          </a:p>
          <a:p>
            <a:r>
              <a:rPr lang="ru-RU" dirty="0"/>
              <a:t>5	Разрешение доступа	Охрана</a:t>
            </a:r>
          </a:p>
          <a:p>
            <a:r>
              <a:rPr lang="ru-RU" dirty="0"/>
              <a:t>6	Фиксация времени	Подразделение</a:t>
            </a:r>
          </a:p>
          <a:p>
            <a:r>
              <a:rPr lang="ru-RU" dirty="0"/>
              <a:t>7	Формирование отчётов	Общий отдел</a:t>
            </a:r>
          </a:p>
        </p:txBody>
      </p:sp>
    </p:spTree>
    <p:extLst>
      <p:ext uri="{BB962C8B-B14F-4D97-AF65-F5344CB8AC3E}">
        <p14:creationId xmlns:p14="http://schemas.microsoft.com/office/powerpoint/2010/main" val="3651472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95132D-CD85-5F4D-CC53-E5E2C5712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 ЭТАПЫ РАЗРАБОТКИ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5A45567-B894-FBC6-44CB-1E565CBB8F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ru-RU" dirty="0"/>
              <a:t>1 ЭТАП: Анализ и проектирование</a:t>
            </a:r>
          </a:p>
          <a:p>
            <a:r>
              <a:rPr lang="ru-RU" dirty="0"/>
              <a:t>   ↓</a:t>
            </a:r>
          </a:p>
          <a:p>
            <a:r>
              <a:rPr lang="ru-RU" dirty="0"/>
              <a:t>2 ЭТАП: Нормализация БД (3НФ)</a:t>
            </a:r>
          </a:p>
          <a:p>
            <a:r>
              <a:rPr lang="ru-RU" dirty="0"/>
              <a:t>   ↓</a:t>
            </a:r>
          </a:p>
          <a:p>
            <a:r>
              <a:rPr lang="ru-RU" dirty="0"/>
              <a:t>3 ЭТАП: Создание таблиц, индексов</a:t>
            </a:r>
          </a:p>
          <a:p>
            <a:r>
              <a:rPr lang="ru-RU" dirty="0"/>
              <a:t>   ↓</a:t>
            </a:r>
          </a:p>
          <a:p>
            <a:r>
              <a:rPr lang="ru-RU" dirty="0"/>
              <a:t>4 ЭТАП: Разработка процедур и триггеров</a:t>
            </a:r>
          </a:p>
          <a:p>
            <a:r>
              <a:rPr lang="ru-RU" dirty="0"/>
              <a:t>   ↓</a:t>
            </a:r>
          </a:p>
          <a:p>
            <a:r>
              <a:rPr lang="ru-RU" dirty="0"/>
              <a:t>5 ЭТАП: Создание представлений</a:t>
            </a:r>
          </a:p>
          <a:p>
            <a:r>
              <a:rPr lang="ru-RU" dirty="0"/>
              <a:t>   ↓</a:t>
            </a:r>
          </a:p>
          <a:p>
            <a:r>
              <a:rPr lang="ru-RU" dirty="0"/>
              <a:t>6 ЭТАП: Разработка терминалов на WPF</a:t>
            </a:r>
          </a:p>
          <a:p>
            <a:r>
              <a:rPr lang="ru-RU" dirty="0"/>
              <a:t>   ↓</a:t>
            </a:r>
          </a:p>
          <a:p>
            <a:r>
              <a:rPr lang="ru-RU" dirty="0"/>
              <a:t>7 ЭТАП: Тестирование и отладка</a:t>
            </a:r>
          </a:p>
        </p:txBody>
      </p:sp>
    </p:spTree>
    <p:extLst>
      <p:ext uri="{BB962C8B-B14F-4D97-AF65-F5344CB8AC3E}">
        <p14:creationId xmlns:p14="http://schemas.microsoft.com/office/powerpoint/2010/main" val="13602596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D4CA8B-EF47-247E-5ADD-8AA5ECBB3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ВЫДЕЛЕННЫЕ СУЩНОСТИ (11 таблиц)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7205E786-1030-30A6-A71C-6467B37FBF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8322343"/>
              </p:ext>
            </p:extLst>
          </p:nvPr>
        </p:nvGraphicFramePr>
        <p:xfrm>
          <a:off x="1663430" y="1690688"/>
          <a:ext cx="7577847" cy="454639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525949">
                  <a:extLst>
                    <a:ext uri="{9D8B030D-6E8A-4147-A177-3AD203B41FA5}">
                      <a16:colId xmlns:a16="http://schemas.microsoft.com/office/drawing/2014/main" val="3451176946"/>
                    </a:ext>
                  </a:extLst>
                </a:gridCol>
                <a:gridCol w="2525949">
                  <a:extLst>
                    <a:ext uri="{9D8B030D-6E8A-4147-A177-3AD203B41FA5}">
                      <a16:colId xmlns:a16="http://schemas.microsoft.com/office/drawing/2014/main" val="1769808891"/>
                    </a:ext>
                  </a:extLst>
                </a:gridCol>
                <a:gridCol w="2525949">
                  <a:extLst>
                    <a:ext uri="{9D8B030D-6E8A-4147-A177-3AD203B41FA5}">
                      <a16:colId xmlns:a16="http://schemas.microsoft.com/office/drawing/2014/main" val="1504864295"/>
                    </a:ext>
                  </a:extLst>
                </a:gridCol>
              </a:tblGrid>
              <a:tr h="237590">
                <a:tc>
                  <a:txBody>
                    <a:bodyPr/>
                    <a:lstStyle/>
                    <a:p>
                      <a:pPr algn="l"/>
                      <a:r>
                        <a:rPr lang="ru-RU" sz="1400" b="0">
                          <a:effectLst/>
                        </a:rPr>
                        <a:t>№</a:t>
                      </a:r>
                      <a:endParaRPr lang="ru-RU" sz="1400" b="0">
                        <a:effectLst/>
                        <a:latin typeface="quote-cjk-patch"/>
                      </a:endParaRPr>
                    </a:p>
                  </a:txBody>
                  <a:tcPr marL="48891" marR="65189" marT="40743" marB="40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0">
                          <a:effectLst/>
                        </a:rPr>
                        <a:t>Сущность</a:t>
                      </a:r>
                      <a:endParaRPr lang="ru-RU" sz="1400" b="0">
                        <a:effectLst/>
                        <a:latin typeface="quote-cjk-patch"/>
                      </a:endParaRPr>
                    </a:p>
                  </a:txBody>
                  <a:tcPr marL="65189" marR="65189" marT="40743" marB="40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0">
                          <a:effectLst/>
                        </a:rPr>
                        <a:t>Назначение</a:t>
                      </a:r>
                      <a:endParaRPr lang="ru-RU" sz="1400" b="0">
                        <a:effectLst/>
                        <a:latin typeface="quote-cjk-patch"/>
                      </a:endParaRPr>
                    </a:p>
                  </a:txBody>
                  <a:tcPr marL="65189" marR="65189" marT="40743" marB="40743" anchor="ctr"/>
                </a:tc>
                <a:extLst>
                  <a:ext uri="{0D108BD9-81ED-4DB2-BD59-A6C34878D82A}">
                    <a16:rowId xmlns:a16="http://schemas.microsoft.com/office/drawing/2014/main" val="527959047"/>
                  </a:ext>
                </a:extLst>
              </a:tr>
              <a:tr h="380770"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</a:rPr>
                        <a:t>1</a:t>
                      </a:r>
                      <a:endParaRPr lang="ru-RU" sz="1400" b="0">
                        <a:effectLst/>
                        <a:latin typeface="quote-cjk-patch"/>
                      </a:endParaRPr>
                    </a:p>
                  </a:txBody>
                  <a:tcPr marL="48891" marR="65189" marT="40743" marB="40743" anchor="ctr"/>
                </a:tc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</a:rPr>
                        <a:t>Посетители</a:t>
                      </a:r>
                      <a:endParaRPr lang="ru-RU" sz="1400" b="0">
                        <a:effectLst/>
                        <a:latin typeface="quote-cjk-patch"/>
                      </a:endParaRPr>
                    </a:p>
                  </a:txBody>
                  <a:tcPr marL="65189" marR="65189" marT="40743" marB="40743" anchor="ctr"/>
                </a:tc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</a:rPr>
                        <a:t>Данные о посетителях</a:t>
                      </a:r>
                      <a:endParaRPr lang="ru-RU" sz="1400" b="0">
                        <a:effectLst/>
                        <a:latin typeface="quote-cjk-patch"/>
                      </a:endParaRPr>
                    </a:p>
                  </a:txBody>
                  <a:tcPr marL="65189" marR="48891" marT="40743" marB="40743" anchor="ctr"/>
                </a:tc>
                <a:extLst>
                  <a:ext uri="{0D108BD9-81ED-4DB2-BD59-A6C34878D82A}">
                    <a16:rowId xmlns:a16="http://schemas.microsoft.com/office/drawing/2014/main" val="3015994972"/>
                  </a:ext>
                </a:extLst>
              </a:tr>
              <a:tr h="380770">
                <a:tc>
                  <a:txBody>
                    <a:bodyPr/>
                    <a:lstStyle/>
                    <a:p>
                      <a:r>
                        <a:rPr lang="ru-RU" sz="1400" b="0" dirty="0">
                          <a:effectLst/>
                        </a:rPr>
                        <a:t>2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L="48891" marR="65189" marT="40743" marB="40743" anchor="ctr"/>
                </a:tc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</a:rPr>
                        <a:t>Сотрудники</a:t>
                      </a:r>
                      <a:endParaRPr lang="ru-RU" sz="1400" b="0">
                        <a:effectLst/>
                        <a:latin typeface="quote-cjk-patch"/>
                      </a:endParaRPr>
                    </a:p>
                  </a:txBody>
                  <a:tcPr marL="65189" marR="65189" marT="40743" marB="40743" anchor="ctr"/>
                </a:tc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</a:rPr>
                        <a:t>Данные о сотрудниках</a:t>
                      </a:r>
                      <a:endParaRPr lang="ru-RU" sz="1400" b="0">
                        <a:effectLst/>
                        <a:latin typeface="quote-cjk-patch"/>
                      </a:endParaRPr>
                    </a:p>
                  </a:txBody>
                  <a:tcPr marL="65189" marR="48891" marT="40743" marB="40743" anchor="ctr"/>
                </a:tc>
                <a:extLst>
                  <a:ext uri="{0D108BD9-81ED-4DB2-BD59-A6C34878D82A}">
                    <a16:rowId xmlns:a16="http://schemas.microsoft.com/office/drawing/2014/main" val="2195617374"/>
                  </a:ext>
                </a:extLst>
              </a:tr>
              <a:tr h="237590"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</a:rPr>
                        <a:t>3</a:t>
                      </a:r>
                      <a:endParaRPr lang="ru-RU" sz="1400" b="0">
                        <a:effectLst/>
                        <a:latin typeface="quote-cjk-patch"/>
                      </a:endParaRPr>
                    </a:p>
                  </a:txBody>
                  <a:tcPr marL="48891" marR="65189" marT="40743" marB="40743" anchor="ctr"/>
                </a:tc>
                <a:tc>
                  <a:txBody>
                    <a:bodyPr/>
                    <a:lstStyle/>
                    <a:p>
                      <a:r>
                        <a:rPr lang="ru-RU" sz="1400" b="0" dirty="0">
                          <a:effectLst/>
                        </a:rPr>
                        <a:t>Посещения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L="65189" marR="65189" marT="40743" marB="40743" anchor="ctr"/>
                </a:tc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</a:rPr>
                        <a:t>Личные заявки</a:t>
                      </a:r>
                      <a:endParaRPr lang="ru-RU" sz="1400" b="0">
                        <a:effectLst/>
                        <a:latin typeface="quote-cjk-patch"/>
                      </a:endParaRPr>
                    </a:p>
                  </a:txBody>
                  <a:tcPr marL="65189" marR="48891" marT="40743" marB="40743" anchor="ctr"/>
                </a:tc>
                <a:extLst>
                  <a:ext uri="{0D108BD9-81ED-4DB2-BD59-A6C34878D82A}">
                    <a16:rowId xmlns:a16="http://schemas.microsoft.com/office/drawing/2014/main" val="2986300116"/>
                  </a:ext>
                </a:extLst>
              </a:tr>
              <a:tr h="380770"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</a:rPr>
                        <a:t>4</a:t>
                      </a:r>
                      <a:endParaRPr lang="ru-RU" sz="1400" b="0">
                        <a:effectLst/>
                        <a:latin typeface="quote-cjk-patch"/>
                      </a:endParaRPr>
                    </a:p>
                  </a:txBody>
                  <a:tcPr marL="48891" marR="65189" marT="40743" marB="40743" anchor="ctr"/>
                </a:tc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</a:rPr>
                        <a:t>Групповые заявки</a:t>
                      </a:r>
                      <a:endParaRPr lang="ru-RU" sz="1400" b="0">
                        <a:effectLst/>
                        <a:latin typeface="quote-cjk-patch"/>
                      </a:endParaRPr>
                    </a:p>
                  </a:txBody>
                  <a:tcPr marL="65189" marR="65189" marT="40743" marB="40743" anchor="ctr"/>
                </a:tc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</a:rPr>
                        <a:t>Групповые заявки</a:t>
                      </a:r>
                      <a:endParaRPr lang="ru-RU" sz="1400" b="0">
                        <a:effectLst/>
                        <a:latin typeface="quote-cjk-patch"/>
                      </a:endParaRPr>
                    </a:p>
                  </a:txBody>
                  <a:tcPr marL="65189" marR="48891" marT="40743" marB="40743" anchor="ctr"/>
                </a:tc>
                <a:extLst>
                  <a:ext uri="{0D108BD9-81ED-4DB2-BD59-A6C34878D82A}">
                    <a16:rowId xmlns:a16="http://schemas.microsoft.com/office/drawing/2014/main" val="2159262889"/>
                  </a:ext>
                </a:extLst>
              </a:tr>
              <a:tr h="529768"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</a:rPr>
                        <a:t>5</a:t>
                      </a:r>
                      <a:endParaRPr lang="ru-RU" sz="1400" b="0">
                        <a:effectLst/>
                        <a:latin typeface="quote-cjk-patch"/>
                      </a:endParaRPr>
                    </a:p>
                  </a:txBody>
                  <a:tcPr marL="48891" marR="65189" marT="40743" marB="40743" anchor="ctr"/>
                </a:tc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</a:rPr>
                        <a:t>Участники групп</a:t>
                      </a:r>
                      <a:endParaRPr lang="ru-RU" sz="1400" b="0">
                        <a:effectLst/>
                        <a:latin typeface="quote-cjk-patch"/>
                      </a:endParaRPr>
                    </a:p>
                  </a:txBody>
                  <a:tcPr marL="65189" marR="65189" marT="40743" marB="40743" anchor="ctr"/>
                </a:tc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</a:rPr>
                        <a:t>Члены групповых заявок</a:t>
                      </a:r>
                      <a:endParaRPr lang="ru-RU" sz="1400" b="0">
                        <a:effectLst/>
                        <a:latin typeface="quote-cjk-patch"/>
                      </a:endParaRPr>
                    </a:p>
                  </a:txBody>
                  <a:tcPr marL="65189" marR="48891" marT="40743" marB="40743" anchor="ctr"/>
                </a:tc>
                <a:extLst>
                  <a:ext uri="{0D108BD9-81ED-4DB2-BD59-A6C34878D82A}">
                    <a16:rowId xmlns:a16="http://schemas.microsoft.com/office/drawing/2014/main" val="2505786974"/>
                  </a:ext>
                </a:extLst>
              </a:tr>
              <a:tr h="380770"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</a:rPr>
                        <a:t>6</a:t>
                      </a:r>
                      <a:endParaRPr lang="ru-RU" sz="1400" b="0">
                        <a:effectLst/>
                        <a:latin typeface="quote-cjk-patch"/>
                      </a:endParaRPr>
                    </a:p>
                  </a:txBody>
                  <a:tcPr marL="48891" marR="65189" marT="40743" marB="40743" anchor="ctr"/>
                </a:tc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</a:rPr>
                        <a:t>Подразделения</a:t>
                      </a:r>
                      <a:endParaRPr lang="ru-RU" sz="1400" b="0">
                        <a:effectLst/>
                        <a:latin typeface="quote-cjk-patch"/>
                      </a:endParaRPr>
                    </a:p>
                  </a:txBody>
                  <a:tcPr marL="65189" marR="65189" marT="40743" marB="40743" anchor="ctr"/>
                </a:tc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</a:rPr>
                        <a:t>Справочник подразделений</a:t>
                      </a:r>
                      <a:endParaRPr lang="ru-RU" sz="1400" b="0">
                        <a:effectLst/>
                        <a:latin typeface="quote-cjk-patch"/>
                      </a:endParaRPr>
                    </a:p>
                  </a:txBody>
                  <a:tcPr marL="65189" marR="48891" marT="40743" marB="40743" anchor="ctr"/>
                </a:tc>
                <a:extLst>
                  <a:ext uri="{0D108BD9-81ED-4DB2-BD59-A6C34878D82A}">
                    <a16:rowId xmlns:a16="http://schemas.microsoft.com/office/drawing/2014/main" val="1038921001"/>
                  </a:ext>
                </a:extLst>
              </a:tr>
              <a:tr h="380770"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</a:rPr>
                        <a:t>7</a:t>
                      </a:r>
                      <a:endParaRPr lang="ru-RU" sz="1400" b="0">
                        <a:effectLst/>
                        <a:latin typeface="quote-cjk-patch"/>
                      </a:endParaRPr>
                    </a:p>
                  </a:txBody>
                  <a:tcPr marL="48891" marR="65189" marT="40743" marB="40743" anchor="ctr"/>
                </a:tc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</a:rPr>
                        <a:t>Должности</a:t>
                      </a:r>
                      <a:endParaRPr lang="ru-RU" sz="1400" b="0">
                        <a:effectLst/>
                        <a:latin typeface="quote-cjk-patch"/>
                      </a:endParaRPr>
                    </a:p>
                  </a:txBody>
                  <a:tcPr marL="65189" marR="65189" marT="40743" marB="40743" anchor="ctr"/>
                </a:tc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</a:rPr>
                        <a:t>Справочник должностей</a:t>
                      </a:r>
                      <a:endParaRPr lang="ru-RU" sz="1400" b="0">
                        <a:effectLst/>
                        <a:latin typeface="quote-cjk-patch"/>
                      </a:endParaRPr>
                    </a:p>
                  </a:txBody>
                  <a:tcPr marL="65189" marR="48891" marT="40743" marB="40743" anchor="ctr"/>
                </a:tc>
                <a:extLst>
                  <a:ext uri="{0D108BD9-81ED-4DB2-BD59-A6C34878D82A}">
                    <a16:rowId xmlns:a16="http://schemas.microsoft.com/office/drawing/2014/main" val="1123407492"/>
                  </a:ext>
                </a:extLst>
              </a:tr>
              <a:tr h="380770"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</a:rPr>
                        <a:t>8</a:t>
                      </a:r>
                      <a:endParaRPr lang="ru-RU" sz="1400" b="0">
                        <a:effectLst/>
                        <a:latin typeface="quote-cjk-patch"/>
                      </a:endParaRPr>
                    </a:p>
                  </a:txBody>
                  <a:tcPr marL="48891" marR="65189" marT="40743" marB="40743" anchor="ctr"/>
                </a:tc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</a:rPr>
                        <a:t>Статусы посещений</a:t>
                      </a:r>
                      <a:endParaRPr lang="ru-RU" sz="1400" b="0">
                        <a:effectLst/>
                        <a:latin typeface="quote-cjk-patch"/>
                      </a:endParaRPr>
                    </a:p>
                  </a:txBody>
                  <a:tcPr marL="65189" marR="65189" marT="40743" marB="40743" anchor="ctr"/>
                </a:tc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</a:rPr>
                        <a:t>Справочник статусов</a:t>
                      </a:r>
                      <a:endParaRPr lang="ru-RU" sz="1400" b="0">
                        <a:effectLst/>
                        <a:latin typeface="quote-cjk-patch"/>
                      </a:endParaRPr>
                    </a:p>
                  </a:txBody>
                  <a:tcPr marL="65189" marR="48891" marT="40743" marB="40743" anchor="ctr"/>
                </a:tc>
                <a:extLst>
                  <a:ext uri="{0D108BD9-81ED-4DB2-BD59-A6C34878D82A}">
                    <a16:rowId xmlns:a16="http://schemas.microsoft.com/office/drawing/2014/main" val="645426614"/>
                  </a:ext>
                </a:extLst>
              </a:tr>
              <a:tr h="380770"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</a:rPr>
                        <a:t>9</a:t>
                      </a:r>
                      <a:endParaRPr lang="ru-RU" sz="1400" b="0">
                        <a:effectLst/>
                        <a:latin typeface="quote-cjk-patch"/>
                      </a:endParaRPr>
                    </a:p>
                  </a:txBody>
                  <a:tcPr marL="48891" marR="65189" marT="40743" marB="40743" anchor="ctr"/>
                </a:tc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</a:rPr>
                        <a:t>Типы посещений</a:t>
                      </a:r>
                      <a:endParaRPr lang="ru-RU" sz="1400" b="0">
                        <a:effectLst/>
                        <a:latin typeface="quote-cjk-patch"/>
                      </a:endParaRPr>
                    </a:p>
                  </a:txBody>
                  <a:tcPr marL="65189" marR="65189" marT="40743" marB="40743" anchor="ctr"/>
                </a:tc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</a:rPr>
                        <a:t>Справочник типов</a:t>
                      </a:r>
                      <a:endParaRPr lang="ru-RU" sz="1400" b="0">
                        <a:effectLst/>
                        <a:latin typeface="quote-cjk-patch"/>
                      </a:endParaRPr>
                    </a:p>
                  </a:txBody>
                  <a:tcPr marL="65189" marR="48891" marT="40743" marB="40743" anchor="ctr"/>
                </a:tc>
                <a:extLst>
                  <a:ext uri="{0D108BD9-81ED-4DB2-BD59-A6C34878D82A}">
                    <a16:rowId xmlns:a16="http://schemas.microsoft.com/office/drawing/2014/main" val="2293075559"/>
                  </a:ext>
                </a:extLst>
              </a:tr>
              <a:tr h="380770"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</a:rPr>
                        <a:t>10</a:t>
                      </a:r>
                      <a:endParaRPr lang="ru-RU" sz="1400" b="0">
                        <a:effectLst/>
                        <a:latin typeface="quote-cjk-patch"/>
                      </a:endParaRPr>
                    </a:p>
                  </a:txBody>
                  <a:tcPr marL="48891" marR="65189" marT="40743" marB="40743" anchor="ctr"/>
                </a:tc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</a:rPr>
                        <a:t>Чёрный список</a:t>
                      </a:r>
                      <a:endParaRPr lang="ru-RU" sz="1400" b="0">
                        <a:effectLst/>
                        <a:latin typeface="quote-cjk-patch"/>
                      </a:endParaRPr>
                    </a:p>
                  </a:txBody>
                  <a:tcPr marL="65189" marR="65189" marT="40743" marB="40743" anchor="ctr"/>
                </a:tc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</a:rPr>
                        <a:t>Запрещённые посетители</a:t>
                      </a:r>
                      <a:endParaRPr lang="ru-RU" sz="1400" b="0">
                        <a:effectLst/>
                        <a:latin typeface="quote-cjk-patch"/>
                      </a:endParaRPr>
                    </a:p>
                  </a:txBody>
                  <a:tcPr marL="65189" marR="48891" marT="40743" marB="40743" anchor="ctr"/>
                </a:tc>
                <a:extLst>
                  <a:ext uri="{0D108BD9-81ED-4DB2-BD59-A6C34878D82A}">
                    <a16:rowId xmlns:a16="http://schemas.microsoft.com/office/drawing/2014/main" val="2110252772"/>
                  </a:ext>
                </a:extLst>
              </a:tr>
              <a:tr h="380770"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</a:rPr>
                        <a:t>11</a:t>
                      </a:r>
                      <a:endParaRPr lang="ru-RU" sz="1400" b="0">
                        <a:effectLst/>
                        <a:latin typeface="quote-cjk-patch"/>
                      </a:endParaRPr>
                    </a:p>
                  </a:txBody>
                  <a:tcPr marL="48891" marR="65189" marT="40743" marB="40743" anchor="ctr"/>
                </a:tc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</a:rPr>
                        <a:t>Уведомления</a:t>
                      </a:r>
                      <a:endParaRPr lang="ru-RU" sz="1400" b="0">
                        <a:effectLst/>
                        <a:latin typeface="quote-cjk-patch"/>
                      </a:endParaRPr>
                    </a:p>
                  </a:txBody>
                  <a:tcPr marL="65189" marR="65189" marT="40743" marB="40743" anchor="ctr"/>
                </a:tc>
                <a:tc>
                  <a:txBody>
                    <a:bodyPr/>
                    <a:lstStyle/>
                    <a:p>
                      <a:r>
                        <a:rPr lang="ru-RU" sz="1400" b="0" dirty="0">
                          <a:effectLst/>
                        </a:rPr>
                        <a:t>Сообщения для посетителей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L="65189" marR="48891" marT="40743" marB="40743" anchor="ctr"/>
                </a:tc>
                <a:extLst>
                  <a:ext uri="{0D108BD9-81ED-4DB2-BD59-A6C34878D82A}">
                    <a16:rowId xmlns:a16="http://schemas.microsoft.com/office/drawing/2014/main" val="34841788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1361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C8030BD2-C41D-471E-A0E9-06A4BE10EAF9}"/>
              </a:ext>
            </a:extLst>
          </p:cNvPr>
          <p:cNvSpPr txBox="1">
            <a:spLocks/>
          </p:cNvSpPr>
          <p:nvPr/>
        </p:nvSpPr>
        <p:spPr>
          <a:xfrm>
            <a:off x="838200" y="808522"/>
            <a:ext cx="10515600" cy="8821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ru-RU" sz="3600" b="1" dirty="0"/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D4CF8F03-E96F-4E07-8135-A6D84C95C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1689" y="320862"/>
            <a:ext cx="10515600" cy="882166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 ER-</a:t>
            </a:r>
            <a:r>
              <a:rPr lang="ru-RU" sz="3600" b="1" dirty="0"/>
              <a:t>ДИАГРАММА (СУЩНОСТИ И СВЯЗИ)</a:t>
            </a:r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D10091F7-71DC-BD49-E244-9711B820EC32}"/>
              </a:ext>
            </a:extLst>
          </p:cNvPr>
          <p:cNvSpPr txBox="1">
            <a:spLocks/>
          </p:cNvSpPr>
          <p:nvPr/>
        </p:nvSpPr>
        <p:spPr>
          <a:xfrm>
            <a:off x="1524000" y="187716"/>
            <a:ext cx="9144000" cy="5168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ru-RU" sz="1200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1F8CB8A-5F39-20B7-E61C-724688F80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1758" y="1249605"/>
            <a:ext cx="6868484" cy="5144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593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77C97DC7-6A7C-4631-85B0-68D6BC398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7680"/>
            <a:ext cx="10515600" cy="882166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/>
              <a:t>СХЕМА БАЗЫ ДАННЫХ</a:t>
            </a: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9568CE8D-CDB4-E800-ED43-AE7C3044E5F8}"/>
              </a:ext>
            </a:extLst>
          </p:cNvPr>
          <p:cNvSpPr txBox="1">
            <a:spLocks/>
          </p:cNvSpPr>
          <p:nvPr/>
        </p:nvSpPr>
        <p:spPr>
          <a:xfrm>
            <a:off x="1524000" y="291686"/>
            <a:ext cx="9144000" cy="5168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ru-RU" sz="1200" dirty="0"/>
          </a:p>
        </p:txBody>
      </p:sp>
      <p:pic>
        <p:nvPicPr>
          <p:cNvPr id="5" name="Рисунок 4" descr="Изображение выглядит как текст, диаграмма, План, Шриф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D51F0BFF-0C8B-C073-D932-D9383D3D3E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258" y="1451169"/>
            <a:ext cx="6506726" cy="4911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2319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FF2900F9-C0E7-143A-2BB5-E46DECF38A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39366786"/>
              </p:ext>
            </p:extLst>
          </p:nvPr>
        </p:nvGraphicFramePr>
        <p:xfrm>
          <a:off x="1471193" y="1972035"/>
          <a:ext cx="6544398" cy="4140114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181466">
                  <a:extLst>
                    <a:ext uri="{9D8B030D-6E8A-4147-A177-3AD203B41FA5}">
                      <a16:colId xmlns:a16="http://schemas.microsoft.com/office/drawing/2014/main" val="3881425824"/>
                    </a:ext>
                  </a:extLst>
                </a:gridCol>
                <a:gridCol w="2181466">
                  <a:extLst>
                    <a:ext uri="{9D8B030D-6E8A-4147-A177-3AD203B41FA5}">
                      <a16:colId xmlns:a16="http://schemas.microsoft.com/office/drawing/2014/main" val="2728613165"/>
                    </a:ext>
                  </a:extLst>
                </a:gridCol>
                <a:gridCol w="2181466">
                  <a:extLst>
                    <a:ext uri="{9D8B030D-6E8A-4147-A177-3AD203B41FA5}">
                      <a16:colId xmlns:a16="http://schemas.microsoft.com/office/drawing/2014/main" val="4243113673"/>
                    </a:ext>
                  </a:extLst>
                </a:gridCol>
              </a:tblGrid>
              <a:tr h="575127">
                <a:tc>
                  <a:txBody>
                    <a:bodyPr/>
                    <a:lstStyle/>
                    <a:p>
                      <a:pPr algn="l"/>
                      <a:r>
                        <a:rPr lang="ru-RU" sz="1500" b="0">
                          <a:effectLst/>
                        </a:rPr>
                        <a:t>Уровень</a:t>
                      </a:r>
                      <a:endParaRPr lang="ru-RU" sz="1500" b="0">
                        <a:effectLst/>
                        <a:latin typeface="quote-cjk-patch"/>
                      </a:endParaRPr>
                    </a:p>
                  </a:txBody>
                  <a:tcPr marL="75017" marR="100022" marT="62514" marB="62514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500" b="0">
                          <a:effectLst/>
                        </a:rPr>
                        <a:t>Роль</a:t>
                      </a:r>
                      <a:endParaRPr lang="ru-RU" sz="1500" b="0">
                        <a:effectLst/>
                        <a:latin typeface="quote-cjk-patch"/>
                      </a:endParaRPr>
                    </a:p>
                  </a:txBody>
                  <a:tcPr marL="100022" marR="100022" marT="62514" marB="62514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500" b="0">
                          <a:effectLst/>
                        </a:rPr>
                        <a:t>Основные функции</a:t>
                      </a:r>
                      <a:endParaRPr lang="ru-RU" sz="1500" b="0">
                        <a:effectLst/>
                        <a:latin typeface="quote-cjk-patch"/>
                      </a:endParaRPr>
                    </a:p>
                  </a:txBody>
                  <a:tcPr marL="100022" marR="100022" marT="62514" marB="62514" anchor="ctr"/>
                </a:tc>
                <a:extLst>
                  <a:ext uri="{0D108BD9-81ED-4DB2-BD59-A6C34878D82A}">
                    <a16:rowId xmlns:a16="http://schemas.microsoft.com/office/drawing/2014/main" val="204425314"/>
                  </a:ext>
                </a:extLst>
              </a:tr>
              <a:tr h="575127">
                <a:tc>
                  <a:txBody>
                    <a:bodyPr/>
                    <a:lstStyle/>
                    <a:p>
                      <a:r>
                        <a:rPr lang="ru-RU" sz="1500" b="0">
                          <a:effectLst/>
                        </a:rPr>
                        <a:t>1</a:t>
                      </a:r>
                      <a:endParaRPr lang="ru-RU" sz="1500" b="0">
                        <a:effectLst/>
                        <a:latin typeface="quote-cjk-patch"/>
                      </a:endParaRPr>
                    </a:p>
                  </a:txBody>
                  <a:tcPr marL="75017" marR="100022" marT="62514" marB="62514" anchor="ctr"/>
                </a:tc>
                <a:tc>
                  <a:txBody>
                    <a:bodyPr/>
                    <a:lstStyle/>
                    <a:p>
                      <a:r>
                        <a:rPr lang="ru-RU" sz="1500" b="0">
                          <a:effectLst/>
                        </a:rPr>
                        <a:t>Посетитель</a:t>
                      </a:r>
                      <a:endParaRPr lang="ru-RU" sz="1500" b="0">
                        <a:effectLst/>
                        <a:latin typeface="quote-cjk-patch"/>
                      </a:endParaRPr>
                    </a:p>
                  </a:txBody>
                  <a:tcPr marL="100022" marR="100022" marT="62514" marB="62514" anchor="ctr"/>
                </a:tc>
                <a:tc>
                  <a:txBody>
                    <a:bodyPr/>
                    <a:lstStyle/>
                    <a:p>
                      <a:r>
                        <a:rPr lang="ru-RU" sz="1500" b="0">
                          <a:effectLst/>
                        </a:rPr>
                        <a:t>Подача заявок, просмотр статуса</a:t>
                      </a:r>
                      <a:endParaRPr lang="ru-RU" sz="1500" b="0">
                        <a:effectLst/>
                        <a:latin typeface="quote-cjk-patch"/>
                      </a:endParaRPr>
                    </a:p>
                  </a:txBody>
                  <a:tcPr marL="100022" marR="75017" marT="62514" marB="62514" anchor="ctr"/>
                </a:tc>
                <a:extLst>
                  <a:ext uri="{0D108BD9-81ED-4DB2-BD59-A6C34878D82A}">
                    <a16:rowId xmlns:a16="http://schemas.microsoft.com/office/drawing/2014/main" val="1472121979"/>
                  </a:ext>
                </a:extLst>
              </a:tr>
              <a:tr h="1025227">
                <a:tc>
                  <a:txBody>
                    <a:bodyPr/>
                    <a:lstStyle/>
                    <a:p>
                      <a:r>
                        <a:rPr lang="ru-RU" sz="1500" b="0">
                          <a:effectLst/>
                        </a:rPr>
                        <a:t>2</a:t>
                      </a:r>
                      <a:endParaRPr lang="ru-RU" sz="1500" b="0">
                        <a:effectLst/>
                        <a:latin typeface="quote-cjk-patch"/>
                      </a:endParaRPr>
                    </a:p>
                  </a:txBody>
                  <a:tcPr marL="75017" marR="100022" marT="62514" marB="62514" anchor="ctr"/>
                </a:tc>
                <a:tc>
                  <a:txBody>
                    <a:bodyPr/>
                    <a:lstStyle/>
                    <a:p>
                      <a:r>
                        <a:rPr lang="ru-RU" sz="1500" b="0" dirty="0">
                          <a:effectLst/>
                        </a:rPr>
                        <a:t>Охрана</a:t>
                      </a:r>
                      <a:endParaRPr lang="ru-RU" sz="1500" b="0" dirty="0">
                        <a:effectLst/>
                        <a:latin typeface="quote-cjk-patch"/>
                      </a:endParaRPr>
                    </a:p>
                  </a:txBody>
                  <a:tcPr marL="100022" marR="100022" marT="62514" marB="62514" anchor="ctr"/>
                </a:tc>
                <a:tc>
                  <a:txBody>
                    <a:bodyPr/>
                    <a:lstStyle/>
                    <a:p>
                      <a:r>
                        <a:rPr lang="ru-RU" sz="1500" b="0" dirty="0">
                          <a:effectLst/>
                        </a:rPr>
                        <a:t>Разрешение доступа, пропускной режим</a:t>
                      </a:r>
                      <a:endParaRPr lang="ru-RU" sz="1500" b="0" dirty="0">
                        <a:effectLst/>
                        <a:latin typeface="quote-cjk-patch"/>
                      </a:endParaRPr>
                    </a:p>
                  </a:txBody>
                  <a:tcPr marL="100022" marR="75017" marT="62514" marB="62514" anchor="ctr"/>
                </a:tc>
                <a:extLst>
                  <a:ext uri="{0D108BD9-81ED-4DB2-BD59-A6C34878D82A}">
                    <a16:rowId xmlns:a16="http://schemas.microsoft.com/office/drawing/2014/main" val="3147282730"/>
                  </a:ext>
                </a:extLst>
              </a:tr>
              <a:tr h="575127">
                <a:tc>
                  <a:txBody>
                    <a:bodyPr/>
                    <a:lstStyle/>
                    <a:p>
                      <a:r>
                        <a:rPr lang="ru-RU" sz="1500" b="0">
                          <a:effectLst/>
                        </a:rPr>
                        <a:t>3</a:t>
                      </a:r>
                      <a:endParaRPr lang="ru-RU" sz="1500" b="0">
                        <a:effectLst/>
                        <a:latin typeface="quote-cjk-patch"/>
                      </a:endParaRPr>
                    </a:p>
                  </a:txBody>
                  <a:tcPr marL="75017" marR="100022" marT="62514" marB="62514" anchor="ctr"/>
                </a:tc>
                <a:tc>
                  <a:txBody>
                    <a:bodyPr/>
                    <a:lstStyle/>
                    <a:p>
                      <a:r>
                        <a:rPr lang="ru-RU" sz="1500" b="0">
                          <a:effectLst/>
                        </a:rPr>
                        <a:t>Общий отдел</a:t>
                      </a:r>
                      <a:endParaRPr lang="ru-RU" sz="1500" b="0">
                        <a:effectLst/>
                        <a:latin typeface="quote-cjk-patch"/>
                      </a:endParaRPr>
                    </a:p>
                  </a:txBody>
                  <a:tcPr marL="100022" marR="100022" marT="62514" marB="62514" anchor="ctr"/>
                </a:tc>
                <a:tc>
                  <a:txBody>
                    <a:bodyPr/>
                    <a:lstStyle/>
                    <a:p>
                      <a:r>
                        <a:rPr lang="ru-RU" sz="1500" b="0">
                          <a:effectLst/>
                        </a:rPr>
                        <a:t>Проверка заявок, отчёты</a:t>
                      </a:r>
                      <a:endParaRPr lang="ru-RU" sz="1500" b="0">
                        <a:effectLst/>
                        <a:latin typeface="quote-cjk-patch"/>
                      </a:endParaRPr>
                    </a:p>
                  </a:txBody>
                  <a:tcPr marL="100022" marR="75017" marT="62514" marB="62514" anchor="ctr"/>
                </a:tc>
                <a:extLst>
                  <a:ext uri="{0D108BD9-81ED-4DB2-BD59-A6C34878D82A}">
                    <a16:rowId xmlns:a16="http://schemas.microsoft.com/office/drawing/2014/main" val="3918012375"/>
                  </a:ext>
                </a:extLst>
              </a:tr>
              <a:tr h="800177">
                <a:tc>
                  <a:txBody>
                    <a:bodyPr/>
                    <a:lstStyle/>
                    <a:p>
                      <a:r>
                        <a:rPr lang="ru-RU" sz="1500" b="0">
                          <a:effectLst/>
                        </a:rPr>
                        <a:t>4</a:t>
                      </a:r>
                      <a:endParaRPr lang="ru-RU" sz="1500" b="0">
                        <a:effectLst/>
                        <a:latin typeface="quote-cjk-patch"/>
                      </a:endParaRPr>
                    </a:p>
                  </a:txBody>
                  <a:tcPr marL="75017" marR="100022" marT="62514" marB="62514" anchor="ctr"/>
                </a:tc>
                <a:tc>
                  <a:txBody>
                    <a:bodyPr/>
                    <a:lstStyle/>
                    <a:p>
                      <a:r>
                        <a:rPr lang="ru-RU" sz="1500" b="0">
                          <a:effectLst/>
                        </a:rPr>
                        <a:t>Подразделение</a:t>
                      </a:r>
                      <a:endParaRPr lang="ru-RU" sz="1500" b="0">
                        <a:effectLst/>
                        <a:latin typeface="quote-cjk-patch"/>
                      </a:endParaRPr>
                    </a:p>
                  </a:txBody>
                  <a:tcPr marL="100022" marR="100022" marT="62514" marB="62514" anchor="ctr"/>
                </a:tc>
                <a:tc>
                  <a:txBody>
                    <a:bodyPr/>
                    <a:lstStyle/>
                    <a:p>
                      <a:r>
                        <a:rPr lang="ru-RU" sz="1500" b="0">
                          <a:effectLst/>
                        </a:rPr>
                        <a:t>Фиксация времени, чёрный список</a:t>
                      </a:r>
                      <a:endParaRPr lang="ru-RU" sz="1500" b="0">
                        <a:effectLst/>
                        <a:latin typeface="quote-cjk-patch"/>
                      </a:endParaRPr>
                    </a:p>
                  </a:txBody>
                  <a:tcPr marL="100022" marR="75017" marT="62514" marB="62514" anchor="ctr"/>
                </a:tc>
                <a:extLst>
                  <a:ext uri="{0D108BD9-81ED-4DB2-BD59-A6C34878D82A}">
                    <a16:rowId xmlns:a16="http://schemas.microsoft.com/office/drawing/2014/main" val="475132972"/>
                  </a:ext>
                </a:extLst>
              </a:tr>
              <a:tr h="575127">
                <a:tc>
                  <a:txBody>
                    <a:bodyPr/>
                    <a:lstStyle/>
                    <a:p>
                      <a:r>
                        <a:rPr lang="ru-RU" sz="1500" b="0">
                          <a:effectLst/>
                        </a:rPr>
                        <a:t>5</a:t>
                      </a:r>
                      <a:endParaRPr lang="ru-RU" sz="1500" b="0">
                        <a:effectLst/>
                        <a:latin typeface="quote-cjk-patch"/>
                      </a:endParaRPr>
                    </a:p>
                  </a:txBody>
                  <a:tcPr marL="75017" marR="100022" marT="62514" marB="62514" anchor="ctr"/>
                </a:tc>
                <a:tc>
                  <a:txBody>
                    <a:bodyPr/>
                    <a:lstStyle/>
                    <a:p>
                      <a:r>
                        <a:rPr lang="ru-RU" sz="1500" b="0">
                          <a:effectLst/>
                        </a:rPr>
                        <a:t>Администратор</a:t>
                      </a:r>
                      <a:endParaRPr lang="ru-RU" sz="1500" b="0">
                        <a:effectLst/>
                        <a:latin typeface="quote-cjk-patch"/>
                      </a:endParaRPr>
                    </a:p>
                  </a:txBody>
                  <a:tcPr marL="100022" marR="100022" marT="62514" marB="62514" anchor="ctr"/>
                </a:tc>
                <a:tc>
                  <a:txBody>
                    <a:bodyPr/>
                    <a:lstStyle/>
                    <a:p>
                      <a:r>
                        <a:rPr lang="ru-RU" sz="1500" b="0" dirty="0">
                          <a:effectLst/>
                        </a:rPr>
                        <a:t>Полный доступ, управление</a:t>
                      </a:r>
                      <a:endParaRPr lang="ru-RU" sz="1500" b="0" dirty="0">
                        <a:effectLst/>
                        <a:latin typeface="quote-cjk-patch"/>
                      </a:endParaRPr>
                    </a:p>
                  </a:txBody>
                  <a:tcPr marL="100022" marR="75017" marT="62514" marB="62514" anchor="ctr"/>
                </a:tc>
                <a:extLst>
                  <a:ext uri="{0D108BD9-81ED-4DB2-BD59-A6C34878D82A}">
                    <a16:rowId xmlns:a16="http://schemas.microsoft.com/office/drawing/2014/main" val="2481006935"/>
                  </a:ext>
                </a:extLst>
              </a:tr>
            </a:tbl>
          </a:graphicData>
        </a:graphic>
      </p:graphicFrame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9BABE391-AFDF-48E1-A8CE-1C62C74AA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8522"/>
            <a:ext cx="10515600" cy="882166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/>
              <a:t>УРОВНИ ДОСТУПА 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1CB367-00CE-621F-CD51-09AB94E32C20}"/>
              </a:ext>
            </a:extLst>
          </p:cNvPr>
          <p:cNvSpPr txBox="1">
            <a:spLocks/>
          </p:cNvSpPr>
          <p:nvPr/>
        </p:nvSpPr>
        <p:spPr>
          <a:xfrm>
            <a:off x="1524000" y="223592"/>
            <a:ext cx="9144000" cy="5168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ru-RU" sz="1200" dirty="0"/>
          </a:p>
        </p:txBody>
      </p:sp>
      <p:sp>
        <p:nvSpPr>
          <p:cNvPr id="3" name="AutoShape 2" descr="Автосервис в работе с Mercedes-Benz">
            <a:extLst>
              <a:ext uri="{FF2B5EF4-FFF2-40B4-BE49-F238E27FC236}">
                <a16:creationId xmlns:a16="http://schemas.microsoft.com/office/drawing/2014/main" id="{FABBB0B7-C7B5-7B85-AB39-BA0BBD6FF08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857219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D31225-979C-85D6-5B79-27008020F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89BEC5-B774-ADE5-8DB8-219BFB5FAD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Достигнутые результаты:</a:t>
            </a:r>
          </a:p>
          <a:p>
            <a:r>
              <a:rPr lang="ru-RU" dirty="0"/>
              <a:t> Спроектирована БД в 3НФ (11 таблиц)</a:t>
            </a:r>
          </a:p>
          <a:p>
            <a:r>
              <a:rPr lang="ru-RU" dirty="0"/>
              <a:t>Разработано 5 представлений</a:t>
            </a:r>
          </a:p>
          <a:p>
            <a:r>
              <a:rPr lang="ru-RU" dirty="0"/>
              <a:t> Создано 8 хранимых процедур</a:t>
            </a:r>
          </a:p>
          <a:p>
            <a:r>
              <a:rPr lang="ru-RU" dirty="0"/>
              <a:t>Реализовано 7 триггеров</a:t>
            </a:r>
          </a:p>
          <a:p>
            <a:r>
              <a:rPr lang="ru-RU" dirty="0"/>
              <a:t> Разработано 4 клиентских терминала</a:t>
            </a:r>
          </a:p>
          <a:p>
            <a:r>
              <a:rPr lang="ru-RU" dirty="0"/>
              <a:t> Реализована система ролей (5 уровней)</a:t>
            </a:r>
          </a:p>
          <a:p>
            <a:r>
              <a:rPr lang="ru-RU" dirty="0"/>
              <a:t>Автоматическая проверка чёрного списка</a:t>
            </a:r>
          </a:p>
          <a:p>
            <a:r>
              <a:rPr lang="ru-RU" dirty="0"/>
              <a:t>Автоматическое формирование отчётов (в </a:t>
            </a:r>
            <a:r>
              <a:rPr lang="ru-RU" dirty="0" err="1"/>
              <a:t>эксель</a:t>
            </a:r>
            <a:r>
              <a:rPr lang="ru-RU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128013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465012-C0BB-DE99-7D00-D9247B5C2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6DF9BF6-7AB4-E17A-3B5C-D3CBA7BDD5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ru-RU" dirty="0"/>
              <a:t>ЧТО Я НАУЧИЛСЯ ЗА ВРЕМЯ ПРАКТИКИ</a:t>
            </a:r>
          </a:p>
          <a:p>
            <a:r>
              <a:rPr lang="ru-RU" dirty="0"/>
              <a:t>Система полностью автоматизирует пропускной режим</a:t>
            </a:r>
          </a:p>
          <a:p>
            <a:r>
              <a:rPr lang="ru-RU" dirty="0"/>
              <a:t>Обеспечено разграничение прав доступа по ролям</a:t>
            </a:r>
          </a:p>
          <a:p>
            <a:r>
              <a:rPr lang="ru-RU" dirty="0"/>
              <a:t>Реализована автоматическая проверка чёрного списка</a:t>
            </a:r>
          </a:p>
          <a:p>
            <a:r>
              <a:rPr lang="ru-RU" dirty="0"/>
              <a:t>Создана система отчётности и уведомлений</a:t>
            </a:r>
          </a:p>
          <a:p>
            <a:r>
              <a:rPr lang="ru-RU" dirty="0"/>
              <a:t>Обеспечена целостность и безопасность данных</a:t>
            </a:r>
          </a:p>
          <a:p>
            <a:r>
              <a:rPr lang="ru-RU" dirty="0"/>
              <a:t>Что сделано:</a:t>
            </a:r>
          </a:p>
          <a:p>
            <a:r>
              <a:rPr lang="ru-RU" dirty="0"/>
              <a:t>Спроектирована и реализована база данных в 3НФ</a:t>
            </a:r>
          </a:p>
          <a:p>
            <a:r>
              <a:rPr lang="ru-RU" dirty="0"/>
              <a:t>Разработаны 4 терминала для разных категорий пользователей</a:t>
            </a:r>
          </a:p>
          <a:p>
            <a:r>
              <a:rPr lang="ru-RU" dirty="0"/>
              <a:t>Реализована система ролей (5 уровней доступа)</a:t>
            </a:r>
          </a:p>
          <a:p>
            <a:r>
              <a:rPr lang="ru-RU" dirty="0"/>
              <a:t>Созданы представления, процедуры и триггеры</a:t>
            </a:r>
          </a:p>
          <a:p>
            <a:r>
              <a:rPr lang="ru-RU" dirty="0"/>
              <a:t>Настроена автоматическая проверка чёрного списка</a:t>
            </a:r>
          </a:p>
          <a:p>
            <a:r>
              <a:rPr lang="ru-RU" dirty="0"/>
              <a:t>Реализовано автоматическое формирование отчётов</a:t>
            </a:r>
          </a:p>
        </p:txBody>
      </p:sp>
    </p:spTree>
    <p:extLst>
      <p:ext uri="{BB962C8B-B14F-4D97-AF65-F5344CB8AC3E}">
        <p14:creationId xmlns:p14="http://schemas.microsoft.com/office/powerpoint/2010/main" val="69606563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Другая 1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1808</TotalTime>
  <Words>444</Words>
  <Application>Microsoft Office PowerPoint</Application>
  <PresentationFormat>Широкоэкранный</PresentationFormat>
  <Paragraphs>125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quote-cjk-patch</vt:lpstr>
      <vt:lpstr>Times New Roman</vt:lpstr>
      <vt:lpstr>Тема Office</vt:lpstr>
      <vt:lpstr>   ПМ11. Разработка, администрирование и защита баз данных</vt:lpstr>
      <vt:lpstr>ЦЕЛЬ И ЗАДАЧИ ПРАКТИКИ</vt:lpstr>
      <vt:lpstr>Анализ предметной области</vt:lpstr>
      <vt:lpstr> ЭТАПЫ РАЗРАБОТКИ</vt:lpstr>
      <vt:lpstr>ВЫДЕЛЕННЫЕ СУЩНОСТИ (11 таблиц)</vt:lpstr>
      <vt:lpstr> ER-ДИАГРАММА (СУЩНОСТИ И СВЯЗИ)</vt:lpstr>
      <vt:lpstr>СХЕМА БАЗЫ ДАННЫХ</vt:lpstr>
      <vt:lpstr>УРОВНИ ДОСТУПА </vt:lpstr>
      <vt:lpstr>РЕЗУЛЬТАТЫ РАБОТЫ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ПРОГРАММНОГО МОДУЛЯ ДЛЯ АВТОМАТИЗАЦИИ УЧЕТА АНАЛИЗОВ МЕДИЦИНСКОЙ ЛАБОРАТОРИИ</dc:title>
  <dc:creator>Наташа Коротких</dc:creator>
  <cp:lastModifiedBy>deb296118@gmail.com</cp:lastModifiedBy>
  <cp:revision>93</cp:revision>
  <dcterms:created xsi:type="dcterms:W3CDTF">2024-10-25T10:47:39Z</dcterms:created>
  <dcterms:modified xsi:type="dcterms:W3CDTF">2026-04-20T10:12:41Z</dcterms:modified>
</cp:coreProperties>
</file>